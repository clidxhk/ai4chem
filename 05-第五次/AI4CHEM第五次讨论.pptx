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78" r:id="rId3"/>
    <p:sldId id="279" r:id="rId4"/>
    <p:sldId id="280" r:id="rId5"/>
    <p:sldId id="281" r:id="rId6"/>
    <p:sldId id="282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12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1" y="919576"/>
            <a:ext cx="3889855" cy="7472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9528" y="2220659"/>
            <a:ext cx="1828800" cy="2726293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1865376" y="2220659"/>
            <a:ext cx="10363200" cy="272629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68791" y="2479581"/>
            <a:ext cx="9108812" cy="2023153"/>
          </a:xfrm>
        </p:spPr>
        <p:txBody>
          <a:bodyPr tIns="91440" bIns="91440" anchor="ctr" anchorCtr="0">
            <a:normAutofit/>
          </a:bodyPr>
          <a:lstStyle>
            <a:lvl1pPr>
              <a:defRPr sz="5335" b="0">
                <a:solidFill>
                  <a:srgbClr val="CC9900"/>
                </a:solidFill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546" y="5019482"/>
            <a:ext cx="7678057" cy="787300"/>
          </a:xfrm>
        </p:spPr>
        <p:txBody>
          <a:bodyPr>
            <a:normAutofit/>
          </a:bodyPr>
          <a:lstStyle>
            <a:lvl1pPr marL="0" indent="0" algn="r">
              <a:buNone/>
              <a:defRPr sz="3465">
                <a:solidFill>
                  <a:srgbClr val="545454"/>
                </a:solidFill>
                <a:latin typeface="+mn-lt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9523" y="6146495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2" name="Date Placeholder 12"/>
          <p:cNvSpPr>
            <a:spLocks noGrp="1"/>
          </p:cNvSpPr>
          <p:nvPr>
            <p:ph type="dt" sz="half" idx="2"/>
          </p:nvPr>
        </p:nvSpPr>
        <p:spPr>
          <a:xfrm>
            <a:off x="5746251" y="6146495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3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522437" y="6138687"/>
            <a:ext cx="857087" cy="37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rgbClr val="545454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3200" spc="-13" dirty="0">
                <a:solidFill>
                  <a:srgbClr val="003366"/>
                </a:solidFill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365" y="1087896"/>
            <a:ext cx="8841963" cy="1664965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8365" y="3308552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-3" y="2838205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309951" y="2838205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99941"/>
            <a:ext cx="5384800" cy="43199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7"/>
            <a:ext cx="5386917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665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7"/>
            <a:ext cx="5389033" cy="3647587"/>
          </a:xfrm>
        </p:spPr>
        <p:txBody>
          <a:bodyPr>
            <a:normAutofit/>
          </a:bodyPr>
          <a:lstStyle>
            <a:lvl1pPr>
              <a:defRPr sz="2665"/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551457" y="472071"/>
            <a:ext cx="5089085" cy="584775"/>
          </a:xfrm>
          <a:noFill/>
        </p:spPr>
        <p:txBody>
          <a:bodyPr vert="horz" wrap="none" lIns="91440" tIns="45720" rIns="91440" bIns="45720" rtlCol="0" anchor="ctr">
            <a:spAutoFit/>
          </a:bodyPr>
          <a:lstStyle>
            <a:lvl1pPr>
              <a:defRPr lang="en-US" sz="3200" spc="-13" dirty="0">
                <a:latin typeface="Bahnschrift SemiBold" panose="020B0502040204020203" pitchFamily="34" charset="0"/>
                <a:ea typeface="+mn-ea"/>
                <a:cs typeface="+mn-ea"/>
              </a:defRPr>
            </a:lvl1pPr>
          </a:lstStyle>
          <a:p>
            <a:pPr marL="0" lvl="0" algn="ctr"/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580" y="4618543"/>
            <a:ext cx="9586872" cy="566739"/>
          </a:xfrm>
        </p:spPr>
        <p:txBody>
          <a:bodyPr anchor="b">
            <a:noAutofit/>
          </a:bodyPr>
          <a:lstStyle>
            <a:lvl1pPr algn="ctr">
              <a:defRPr sz="4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23342" y="547479"/>
            <a:ext cx="8381801" cy="391342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8580" y="5209471"/>
            <a:ext cx="9586872" cy="559960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65">
                <a:solidFill>
                  <a:srgbClr val="00274C"/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216384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348368" y="1614157"/>
            <a:ext cx="8841963" cy="1706227"/>
          </a:xfrm>
        </p:spPr>
        <p:txBody>
          <a:bodyPr lIns="0" rIns="457200" anchor="b" anchorCtr="0"/>
          <a:lstStyle>
            <a:lvl1pPr algn="l">
              <a:defRPr sz="5335" b="0" cap="all" spc="133" baseline="0"/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348368" y="3799944"/>
            <a:ext cx="8841963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3735" baseline="0">
                <a:solidFill>
                  <a:srgbClr val="545454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421719"/>
            <a:ext cx="1243584" cy="328315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1309953" y="3421719"/>
            <a:ext cx="8900160" cy="328315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095" y="5770104"/>
            <a:ext cx="2153835" cy="413763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342925" y="5948707"/>
            <a:ext cx="10850880" cy="7686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162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06880"/>
            <a:ext cx="10972800" cy="4154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90011" y="6137824"/>
            <a:ext cx="4366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zh-CN" alt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5956739" y="6137824"/>
            <a:ext cx="16934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rgbClr val="EEEEEE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2F4A369-E186-451F-B48A-C93F5E8F6D4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81061" y="6138688"/>
            <a:ext cx="8570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B83163ED-242A-435D-AF32-93DF19B59BB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-10385" y="5948707"/>
            <a:ext cx="1292351" cy="76865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0401" y="6123054"/>
            <a:ext cx="2233913" cy="4195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5065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609600" rtl="0" eaLnBrk="1" latinLnBrk="0" hangingPunct="1">
        <a:spcBef>
          <a:spcPct val="20000"/>
        </a:spcBef>
        <a:buFont typeface="Arial" panose="020B0604020202020204"/>
        <a:buChar char="•"/>
        <a:defRPr sz="4265" kern="1200">
          <a:solidFill>
            <a:srgbClr val="545454"/>
          </a:solidFill>
          <a:latin typeface="+mn-lt"/>
          <a:ea typeface="+mn-ea"/>
          <a:cs typeface="+mn-cs"/>
        </a:defRPr>
      </a:lvl1pPr>
      <a:lvl2pPr marL="990600" indent="-381000" algn="l" defTabSz="609600" rtl="0" eaLnBrk="1" latinLnBrk="0" hangingPunct="1">
        <a:spcBef>
          <a:spcPct val="20000"/>
        </a:spcBef>
        <a:buFont typeface="Arial" panose="020B0604020202020204"/>
        <a:buChar char="–"/>
        <a:defRPr sz="3735" kern="1200">
          <a:solidFill>
            <a:srgbClr val="545454"/>
          </a:solidFill>
          <a:latin typeface="+mn-lt"/>
          <a:ea typeface="+mn-ea"/>
          <a:cs typeface="+mn-cs"/>
        </a:defRPr>
      </a:lvl2pPr>
      <a:lvl3pPr marL="1524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rgbClr val="545454"/>
          </a:solidFill>
          <a:latin typeface="+mn-lt"/>
          <a:ea typeface="+mn-ea"/>
          <a:cs typeface="+mn-cs"/>
        </a:defRPr>
      </a:lvl3pPr>
      <a:lvl4pPr marL="2133600" indent="-304800" algn="l" defTabSz="609600" rtl="0" eaLnBrk="1" latinLnBrk="0" hangingPunct="1">
        <a:spcBef>
          <a:spcPct val="20000"/>
        </a:spcBef>
        <a:buFont typeface="Arial" panose="020B0604020202020204"/>
        <a:buChar char="–"/>
        <a:defRPr sz="2665" kern="1200">
          <a:solidFill>
            <a:srgbClr val="545454"/>
          </a:solidFill>
          <a:latin typeface="+mn-lt"/>
          <a:ea typeface="+mn-ea"/>
          <a:cs typeface="+mn-cs"/>
        </a:defRPr>
      </a:lvl4pPr>
      <a:lvl5pPr marL="2743200" indent="-304800" algn="l" defTabSz="609600" rtl="0" eaLnBrk="1" latinLnBrk="0" hangingPunct="1">
        <a:spcBef>
          <a:spcPct val="20000"/>
        </a:spcBef>
        <a:buFont typeface="Arial" panose="020B0604020202020204"/>
        <a:buChar char="»"/>
        <a:defRPr sz="2665" kern="1200">
          <a:solidFill>
            <a:srgbClr val="545454"/>
          </a:solidFill>
          <a:latin typeface="+mn-lt"/>
          <a:ea typeface="+mn-ea"/>
          <a:cs typeface="+mn-cs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AI for CHEM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第五次讨论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5</a:t>
            </a:r>
            <a:r>
              <a:rPr lang="en-US" altLang="zh-CN" baseline="30000" dirty="0">
                <a:cs typeface="+mn-ea"/>
                <a:sym typeface="+mn-lt"/>
              </a:rPr>
              <a:t>th</a:t>
            </a:r>
            <a:r>
              <a:rPr lang="en-US" altLang="zh-CN" dirty="0">
                <a:cs typeface="+mn-ea"/>
                <a:sym typeface="+mn-lt"/>
              </a:rPr>
              <a:t> 2026/10/22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0202F5-9381-4C0C-BF0E-02A8A120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DB85B3A-66A9-469E-996E-5A3F8B6D6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912" y="472071"/>
            <a:ext cx="2582182" cy="584775"/>
          </a:xfrm>
        </p:spPr>
        <p:txBody>
          <a:bodyPr/>
          <a:lstStyle/>
          <a:p>
            <a:pPr algn="ctr"/>
            <a:r>
              <a:rPr lang="en-US" altLang="zh-CN" dirty="0"/>
              <a:t>Agent </a:t>
            </a:r>
            <a:r>
              <a:rPr lang="zh-CN" altLang="en-US" b="1" dirty="0"/>
              <a:t>客户端</a:t>
            </a:r>
          </a:p>
        </p:txBody>
      </p:sp>
      <p:pic>
        <p:nvPicPr>
          <p:cNvPr id="4" name="Picture 6" descr="Codex (OpenAI) Icon &amp; Logo (LobeHub) | Dashboard Icons &amp; Logos">
            <a:extLst>
              <a:ext uri="{FF2B5EF4-FFF2-40B4-BE49-F238E27FC236}">
                <a16:creationId xmlns:a16="http://schemas.microsoft.com/office/drawing/2014/main" id="{9C686DB5-180E-4453-ADF7-801D6F3C9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10" y="1600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Claude AI Icon SVG Vector &amp; PNG Free Download | UXWing">
            <a:extLst>
              <a:ext uri="{FF2B5EF4-FFF2-40B4-BE49-F238E27FC236}">
                <a16:creationId xmlns:a16="http://schemas.microsoft.com/office/drawing/2014/main" id="{19B3C237-EC86-4C44-96F1-325946A35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555" y="1600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2C9C644B-3757-4C95-97D2-2472821E0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000" y="1600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Grok 3.5 and Organizational Physics: Scaling-up from First Principles -  Organizational Physics">
            <a:extLst>
              <a:ext uri="{FF2B5EF4-FFF2-40B4-BE49-F238E27FC236}">
                <a16:creationId xmlns:a16="http://schemas.microsoft.com/office/drawing/2014/main" id="{D72A59E7-8A62-4541-8464-2A8D746DC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445" y="160020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0" descr="ZCode: 300M Free GLM-5.3-Flash Tokens (Flash Deal)">
            <a:extLst>
              <a:ext uri="{FF2B5EF4-FFF2-40B4-BE49-F238E27FC236}">
                <a16:creationId xmlns:a16="http://schemas.microsoft.com/office/drawing/2014/main" id="{92339FAC-BEDA-4B36-8734-0C41EACA9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445" y="3444319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2" descr="Doubao - Wikipedia">
            <a:extLst>
              <a:ext uri="{FF2B5EF4-FFF2-40B4-BE49-F238E27FC236}">
                <a16:creationId xmlns:a16="http://schemas.microsoft.com/office/drawing/2014/main" id="{E81AC912-BF0A-4CEF-8359-10F2E00E8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555" y="3444319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4" descr="Minimax Icon &amp; Logo - SVG, PNG, WebP (Light, Dark) | Dashboard Icons &amp; Logos">
            <a:extLst>
              <a:ext uri="{FF2B5EF4-FFF2-40B4-BE49-F238E27FC236}">
                <a16:creationId xmlns:a16="http://schemas.microsoft.com/office/drawing/2014/main" id="{CA59D646-3545-428F-B3C2-31DF796A3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000" y="3455738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4B1AA00-9C41-4A16-AD83-3CBA259E0E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110" y="3444319"/>
            <a:ext cx="1440000" cy="1440000"/>
          </a:xfrm>
          <a:prstGeom prst="rect">
            <a:avLst/>
          </a:prstGeom>
        </p:spPr>
      </p:pic>
      <p:sp>
        <p:nvSpPr>
          <p:cNvPr id="12" name="AutoShape 26" descr="Deepseek Logo PNG Vectors Free Download">
            <a:extLst>
              <a:ext uri="{FF2B5EF4-FFF2-40B4-BE49-F238E27FC236}">
                <a16:creationId xmlns:a16="http://schemas.microsoft.com/office/drawing/2014/main" id="{48714380-6011-4C2A-9B4B-3D9E158333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3305" y="401191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Picture 28" descr="Deepseek Icon &amp; Logo - SVG, PNG, WebP | Dashboard Icons &amp; Logos">
            <a:extLst>
              <a:ext uri="{FF2B5EF4-FFF2-40B4-BE49-F238E27FC236}">
                <a16:creationId xmlns:a16="http://schemas.microsoft.com/office/drawing/2014/main" id="{90E40E53-F41D-469B-B483-07E7AADFA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890" y="3444319"/>
            <a:ext cx="1958399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99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CB6600-4719-4ED6-9E02-6ACF93C4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21B02D-993B-49FB-9918-9030AD6F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201" y="472071"/>
            <a:ext cx="1809598" cy="584775"/>
          </a:xfrm>
        </p:spPr>
        <p:txBody>
          <a:bodyPr/>
          <a:lstStyle/>
          <a:p>
            <a:pPr algn="ctr"/>
            <a:r>
              <a:rPr lang="en-US" altLang="zh-CN" dirty="0"/>
              <a:t>AA Index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29794A9-1EAA-4F55-80F4-5AD919DC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3129"/>
            <a:ext cx="12192000" cy="3571741"/>
          </a:xfrm>
          <a:prstGeom prst="rect">
            <a:avLst/>
          </a:prstGeom>
        </p:spPr>
      </p:pic>
      <p:sp>
        <p:nvSpPr>
          <p:cNvPr id="10" name="AutoShape 4" descr="AI Evaluation Platform Arena Raises $200M Series B at $3.1B Valuation -  WOWTALE">
            <a:extLst>
              <a:ext uri="{FF2B5EF4-FFF2-40B4-BE49-F238E27FC236}">
                <a16:creationId xmlns:a16="http://schemas.microsoft.com/office/drawing/2014/main" id="{B293722D-A728-4E52-B351-0E390F5CE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6" descr="AI Evaluation Platform Arena Raises $200M Series B at $3.1B Valuation">
            <a:extLst>
              <a:ext uri="{FF2B5EF4-FFF2-40B4-BE49-F238E27FC236}">
                <a16:creationId xmlns:a16="http://schemas.microsoft.com/office/drawing/2014/main" id="{07EAD2F4-B751-40BF-9F4E-F8725B684C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" y="428625"/>
            <a:ext cx="1143000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03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F62BCE-D48C-44CC-885B-02FBFD6F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4E5C26-B025-40F2-B298-47C7E853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965" y="472071"/>
            <a:ext cx="2380075" cy="584775"/>
          </a:xfrm>
        </p:spPr>
        <p:txBody>
          <a:bodyPr/>
          <a:lstStyle/>
          <a:p>
            <a:pPr algn="ctr"/>
            <a:r>
              <a:rPr lang="en-US" altLang="zh-CN" dirty="0"/>
              <a:t>Arena Index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401409-5D1F-414B-87E6-0E5DA8936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86" y="1056846"/>
            <a:ext cx="8122627" cy="4543501"/>
          </a:xfrm>
          <a:prstGeom prst="rect">
            <a:avLst/>
          </a:prstGeom>
        </p:spPr>
      </p:pic>
      <p:sp>
        <p:nvSpPr>
          <p:cNvPr id="9" name="AutoShape 6">
            <a:extLst>
              <a:ext uri="{FF2B5EF4-FFF2-40B4-BE49-F238E27FC236}">
                <a16:creationId xmlns:a16="http://schemas.microsoft.com/office/drawing/2014/main" id="{1CAA8515-2B93-4BC6-90A6-2DDFDA9CF8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5052108-C858-4885-869E-B3D4E3BD6E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6"/>
          <a:stretch/>
        </p:blipFill>
        <p:spPr>
          <a:xfrm>
            <a:off x="302201" y="891712"/>
            <a:ext cx="1471894" cy="78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7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26A15E-1E0A-4BEB-976F-21C36BCE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4847C3-D90A-4FA6-AC36-87E60F01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58" y="472071"/>
            <a:ext cx="2352888" cy="584775"/>
          </a:xfrm>
        </p:spPr>
        <p:txBody>
          <a:bodyPr/>
          <a:lstStyle/>
          <a:p>
            <a:pPr algn="ctr"/>
            <a:r>
              <a:rPr lang="en-US" altLang="zh-CN" dirty="0" err="1"/>
              <a:t>OpenRouter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07ABDD-DC44-469E-91DE-41DDCAA5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730" y="1162354"/>
            <a:ext cx="8846538" cy="43636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2C01A4-582C-421C-A14E-FC45DD6FDB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61" y="5255580"/>
            <a:ext cx="3276600" cy="54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94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C3F78D-B03A-4B63-B10C-05430B37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4ADD4EA-C222-45D7-8622-98D493FC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3500" y="472071"/>
            <a:ext cx="4005007" cy="584775"/>
          </a:xfrm>
        </p:spPr>
        <p:txBody>
          <a:bodyPr/>
          <a:lstStyle/>
          <a:p>
            <a:pPr algn="ctr"/>
            <a:r>
              <a:rPr lang="en-US" altLang="zh-CN" dirty="0"/>
              <a:t>Harness Engineering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43E383-FCB9-4BEF-A1C9-F92A57ED8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28" y="1457324"/>
            <a:ext cx="2964721" cy="40874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C075AB-B813-4B37-9B07-A5522754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371" y="1354565"/>
            <a:ext cx="5764079" cy="414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02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200" y="1197576"/>
            <a:ext cx="5400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# </a:t>
            </a:r>
            <a:r>
              <a:rPr lang="zh-CN" altLang="en-US" b="1" dirty="0"/>
              <a:t>开场</a:t>
            </a:r>
            <a:r>
              <a:rPr lang="zh-CN" altLang="en-US" dirty="0"/>
              <a:t>：约</a:t>
            </a:r>
            <a:r>
              <a:rPr lang="en-US" altLang="zh-CN" dirty="0"/>
              <a:t>2-3</a:t>
            </a:r>
            <a:r>
              <a:rPr lang="zh-CN" altLang="en-US" dirty="0"/>
              <a:t>分钟</a:t>
            </a:r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问题分享</a:t>
            </a:r>
            <a:r>
              <a:rPr lang="zh-CN" altLang="en-US" dirty="0"/>
              <a:t>：每人约</a:t>
            </a:r>
            <a:r>
              <a:rPr lang="en-US" altLang="zh-CN" dirty="0"/>
              <a:t>3</a:t>
            </a:r>
            <a:r>
              <a:rPr lang="zh-CN" altLang="en-US" dirty="0"/>
              <a:t>分钟，挑选一个问题回答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集体讨论</a:t>
            </a:r>
            <a:r>
              <a:rPr lang="zh-CN" altLang="en-US" dirty="0"/>
              <a:t>：约</a:t>
            </a:r>
            <a:r>
              <a:rPr lang="en-US" altLang="zh-CN" dirty="0"/>
              <a:t>15</a:t>
            </a:r>
            <a:r>
              <a:rPr lang="zh-CN" altLang="en-US" dirty="0"/>
              <a:t>分钟，学习中的问题等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# </a:t>
            </a:r>
            <a:r>
              <a:rPr lang="zh-CN" altLang="en-US" b="1" dirty="0"/>
              <a:t>发言顺序</a:t>
            </a:r>
            <a:r>
              <a:rPr lang="zh-CN" altLang="en-US" dirty="0"/>
              <a:t>：袁、杨、吴、李、迪 （随机生成）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186267" y="472071"/>
            <a:ext cx="1819472" cy="584775"/>
          </a:xfrm>
        </p:spPr>
        <p:txBody>
          <a:bodyPr/>
          <a:lstStyle/>
          <a:p>
            <a:pPr algn="ctr"/>
            <a:r>
              <a:rPr lang="zh-CN" altLang="en-US" b="1" dirty="0"/>
              <a:t>讨论流程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163ED-242A-435D-AF32-93DF19B59BB7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3B080-6E6A-4A61-A75F-122AF5E5EFCF}"/>
              </a:ext>
            </a:extLst>
          </p:cNvPr>
          <p:cNvSpPr txBox="1"/>
          <p:nvPr/>
        </p:nvSpPr>
        <p:spPr>
          <a:xfrm>
            <a:off x="5503985" y="1056846"/>
            <a:ext cx="62308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## 1.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发展：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LLM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的使用方式发生了什么变化？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介绍自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2022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年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11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月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30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日 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ChatGPT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发布以来，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LLM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应用与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系统的发展历史。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从对话与提示词工程，到工具调用与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系统，任务的执行方式发生了什么变化？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## 2.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依据：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怎样检索资料、核查回答？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什么是检索增强生成（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RAG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）？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如何通过知识库、联网搜索或本地文件检索获取资料，并核查回答是否得到来源支持？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## 3. Skills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：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怎样复用专业方法？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什么是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Skills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？它与每次重新写提示词有什么区别？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结合自己的研究，举一个可以封装成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Skill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的任务。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## 4.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市场：现在中国有哪些大语言模型与 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产品？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国产的模型家族（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DeepSeek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Qwen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Kimi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GLM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Doubao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MiniMax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MiMo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等），它们的能力有什么区别？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选一个你感兴趣的中国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Agent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产品，介绍它的能力（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Trae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Qoder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DeepSeek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Harness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WorkBuddy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ZCode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Kimi Code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MiniMax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Code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）。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## 5.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接入与付费：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、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API Key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和 </a:t>
            </a:r>
            <a:r>
              <a:rPr lang="en-US" altLang="zh-CN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Coding Plan </a:t>
            </a:r>
            <a:r>
              <a:rPr lang="zh-CN" altLang="en-US" sz="1200" b="1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分别是什么？</a:t>
            </a:r>
            <a:b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API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怎样让程序或工具调用模型服务？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API Key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（密钥）起什么作用？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网页或桌面端订阅、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API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按量付费与 </a:t>
            </a:r>
            <a:r>
              <a:rPr lang="en-US" altLang="zh-CN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Coding Plan 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有什么区别？</a:t>
            </a:r>
          </a:p>
          <a:p>
            <a:r>
              <a:rPr lang="en-US" altLang="zh-CN" sz="12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sz="1200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选择一家服务商，查阅其官方说明，介绍套餐支持哪些工具、如何计算额度。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UST-宽屏-精致-方块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hd2x35d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HKUST-宽屏-精致-方块</Template>
  <TotalTime>317</TotalTime>
  <Words>391</Words>
  <Application>Microsoft Office PowerPoint</Application>
  <PresentationFormat>宽屏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Arial</vt:lpstr>
      <vt:lpstr>Bahnschrift SemiBold</vt:lpstr>
      <vt:lpstr>Calibri</vt:lpstr>
      <vt:lpstr>Consolas</vt:lpstr>
      <vt:lpstr>Helvetica</vt:lpstr>
      <vt:lpstr>HKUST-宽屏-精致-方块</vt:lpstr>
      <vt:lpstr>AI for CHEM 第五次讨论</vt:lpstr>
      <vt:lpstr>Agent 客户端</vt:lpstr>
      <vt:lpstr>AA Index</vt:lpstr>
      <vt:lpstr>Arena Index</vt:lpstr>
      <vt:lpstr>OpenRouter</vt:lpstr>
      <vt:lpstr>Harness Engineering</vt:lpstr>
      <vt:lpstr>讨论流程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冲 李</dc:creator>
  <cp:lastModifiedBy>LI Chong</cp:lastModifiedBy>
  <cp:revision>137</cp:revision>
  <dcterms:created xsi:type="dcterms:W3CDTF">2026-09-03T09:08:00Z</dcterms:created>
  <dcterms:modified xsi:type="dcterms:W3CDTF">2026-10-22T11:26:12Z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