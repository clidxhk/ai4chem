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4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4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第二次讨论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en-US" altLang="zh-CN" baseline="30000" dirty="0">
                <a:cs typeface="+mn-ea"/>
                <a:sym typeface="+mn-lt"/>
              </a:rPr>
              <a:t>nd</a:t>
            </a:r>
            <a:r>
              <a:rPr lang="en-US" altLang="zh-CN" dirty="0">
                <a:cs typeface="+mn-ea"/>
                <a:sym typeface="+mn-lt"/>
              </a:rPr>
              <a:t> 2026/09/11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6DDBD-D656-41C0-9BC8-2A82A1F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3BC1A2-107F-42D7-B997-06412B25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20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数据与信息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5C388E-C2D3-437F-A13B-6FF3A8D2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04" y="1166515"/>
            <a:ext cx="8044391" cy="452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D6D9A-BED5-4287-8B95-84D890B5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06062A-7591-452B-9D05-672D5E9B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376" y="472071"/>
            <a:ext cx="1989263" cy="584775"/>
          </a:xfrm>
        </p:spPr>
        <p:txBody>
          <a:bodyPr/>
          <a:lstStyle/>
          <a:p>
            <a:pPr algn="ctr"/>
            <a:r>
              <a:rPr lang="en-US" altLang="zh-CN" b="1" dirty="0"/>
              <a:t>DIKW</a:t>
            </a:r>
            <a:r>
              <a:rPr lang="zh-CN" altLang="en-US" b="1" dirty="0"/>
              <a:t>体系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505DA3-4CA9-4249-AD5B-378435DE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4" y="1056846"/>
            <a:ext cx="5257796" cy="45333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22D638-A7B7-4384-A91E-8DB8C1CB5101}"/>
              </a:ext>
            </a:extLst>
          </p:cNvPr>
          <p:cNvSpPr txBox="1"/>
          <p:nvPr/>
        </p:nvSpPr>
        <p:spPr>
          <a:xfrm>
            <a:off x="6593680" y="1400860"/>
            <a:ext cx="4664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Where is the wisdom we have lost in knowledge? (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我们在知识中所失去的智慧在哪里？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Where is the knowledge we have lost in information? (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我们在</a:t>
            </a:r>
            <a:r>
              <a:rPr lang="zh-CN" altLang="en-US" dirty="0">
                <a:solidFill>
                  <a:srgbClr val="202122"/>
                </a:solidFill>
                <a:latin typeface="Arial" panose="020B0604020202020204" pitchFamily="34" charset="0"/>
              </a:rPr>
              <a:t>信息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中所失去的知识在哪里？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pPr algn="r"/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艾略特（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1948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zh-CN" alt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诺贝尔文学奖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852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A52B61-0135-4D97-8C6F-ACE3AC1F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50B72F-5F02-41FA-8BE9-A549DA6D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66" y="472071"/>
            <a:ext cx="3454280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计算机的数据类型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81C9A4-E135-4063-9CEE-3376B0064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673" y="1377614"/>
            <a:ext cx="6322653" cy="410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3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8D6051-30E2-4B63-915A-F16329A2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E636C3-C088-4B1E-8D58-87A46D8B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16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香农与信息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5E4B99-BFAC-402D-B264-2A074AEA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35" y="1056846"/>
            <a:ext cx="3105715" cy="38813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9CD198-CD88-4419-835C-02BCB03A7994}"/>
              </a:ext>
            </a:extLst>
          </p:cNvPr>
          <p:cNvSpPr txBox="1"/>
          <p:nvPr/>
        </p:nvSpPr>
        <p:spPr>
          <a:xfrm>
            <a:off x="1264897" y="5063609"/>
            <a:ext cx="3851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克劳德</a:t>
            </a:r>
            <a:r>
              <a:rPr lang="en-US" altLang="zh-CN" b="1" dirty="0"/>
              <a:t>·</a:t>
            </a:r>
            <a:r>
              <a:rPr lang="zh-CN" altLang="en-US" b="1" dirty="0"/>
              <a:t>艾尔伍德</a:t>
            </a:r>
            <a:r>
              <a:rPr lang="en-US" altLang="zh-CN" b="1" dirty="0"/>
              <a:t>·</a:t>
            </a:r>
            <a:r>
              <a:rPr lang="zh-CN" altLang="en-US" b="1" dirty="0"/>
              <a:t>香农</a:t>
            </a:r>
            <a:endParaRPr lang="en-US" altLang="zh-CN" b="1" dirty="0"/>
          </a:p>
          <a:p>
            <a:pPr algn="ctr"/>
            <a:r>
              <a:rPr lang="zh-CN" altLang="en-US" b="1" dirty="0"/>
              <a:t>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1916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日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—2001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24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日</a:t>
            </a:r>
            <a:r>
              <a:rPr lang="zh-CN" altLang="en-US" b="1" dirty="0"/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5A1AF8-E5B5-475A-8E30-519FC07D1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634" y="1448871"/>
            <a:ext cx="3105715" cy="1480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820911-CC3E-4DB0-A426-24ED81221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49" y="1419225"/>
            <a:ext cx="3495675" cy="15393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E4CF45-419E-4AEF-99D8-A72FCEFEC784}"/>
              </a:ext>
            </a:extLst>
          </p:cNvPr>
          <p:cNvSpPr txBox="1"/>
          <p:nvPr/>
        </p:nvSpPr>
        <p:spPr>
          <a:xfrm>
            <a:off x="7845935" y="31659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贝尔实验室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EFE74C-FACB-4C00-843D-82D433B31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724" y="3609645"/>
            <a:ext cx="2505976" cy="20145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410393B-9EA6-4145-98E9-8CB30F507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971" y="3609645"/>
            <a:ext cx="2788900" cy="20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8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1197576"/>
            <a:ext cx="5400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分钟，挑选一个问题回答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分钟，学习中的问题等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：袁、迪、杨、李、袁 （随机生成）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3B080-6E6A-4A61-A75F-122AF5E5EFCF}"/>
              </a:ext>
            </a:extLst>
          </p:cNvPr>
          <p:cNvSpPr txBox="1"/>
          <p:nvPr/>
        </p:nvSpPr>
        <p:spPr>
          <a:xfrm>
            <a:off x="5634038" y="1056846"/>
            <a:ext cx="61007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什么是数据？什么是信息？它们是什么关系？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从你自己的实验记录或一篇文献里，各找一个“数据”和“信息”的例子。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数据的类型有哪些？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计算机里只有 </a:t>
            </a:r>
            <a:r>
              <a:rPr lang="en-US" altLang="zh-CN" dirty="0"/>
              <a:t>0 </a:t>
            </a:r>
            <a:r>
              <a:rPr lang="zh-CN" altLang="en-US" dirty="0"/>
              <a:t>和 </a:t>
            </a:r>
            <a:r>
              <a:rPr lang="en-US" altLang="zh-CN" dirty="0"/>
              <a:t>1</a:t>
            </a:r>
            <a:r>
              <a:rPr lang="zh-CN" altLang="en-US" dirty="0"/>
              <a:t>，文字、数字、图片、分子结构分别是怎么被表示的？ 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结构化数据与非结构化数据有什么区别？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盘点你的科研数据：哪些是结构化的数据，哪些是非结构化的数据？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什么样的数据才算“好数据”？ 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数据“多”和“好”哪个更重要？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结合你的领域说说：文献里的数据为什么经常“不好用”？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机器要“学出规律”，所提供的数据至少需要什么条件？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D9F352-5B4E-4FE9-BBAA-92DF2EB0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A8E93-70EC-4A8E-84B2-F5FED5A6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1" y="472071"/>
            <a:ext cx="2636877" cy="584775"/>
          </a:xfrm>
        </p:spPr>
        <p:txBody>
          <a:bodyPr/>
          <a:lstStyle/>
          <a:p>
            <a:pPr algn="ctr"/>
            <a:r>
              <a:rPr lang="zh-CN" altLang="en-US" b="1" dirty="0"/>
              <a:t>个人主题分享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75629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39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F205A-C438-4699-AE22-E59B8937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A538B2-B0D5-432B-9DB7-280EC7C1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63" y="472071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集体讨论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635802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67" y="472071"/>
            <a:ext cx="1002069" cy="584775"/>
          </a:xfrm>
        </p:spPr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webextensions/webextension1.xml><?xml version="1.0" encoding="utf-8"?>
<we:webextension xmlns:we="http://schemas.microsoft.com/office/webextensions/webextension/2010/11" id="{BC27A4AB-EDE1-4E46-85CD-4D5DB23267EA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3"/>
    <we:property name="breaktime.flosim.com_time" value="180"/>
    <we:property name="time" value="18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2E242DC-ED46-4B56-9A60-4CA921DE2D81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15"/>
    <we:property name="breaktime.flosim.com_time" value="900"/>
    <we:property name="time" value="90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87</TotalTime>
  <Words>309</Words>
  <Application>Microsoft Office PowerPoint</Application>
  <PresentationFormat>宽屏</PresentationFormat>
  <Paragraphs>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Bahnschrift SemiBold</vt:lpstr>
      <vt:lpstr>Calibri</vt:lpstr>
      <vt:lpstr>Helvetica</vt:lpstr>
      <vt:lpstr>HKUST-宽屏-精致-方块</vt:lpstr>
      <vt:lpstr>AI for CHEM 第二次讨论</vt:lpstr>
      <vt:lpstr>数据与信息</vt:lpstr>
      <vt:lpstr>DIKW体系</vt:lpstr>
      <vt:lpstr>计算机的数据类型</vt:lpstr>
      <vt:lpstr>香农与信息</vt:lpstr>
      <vt:lpstr>讨论流程</vt:lpstr>
      <vt:lpstr>个人主题分享</vt:lpstr>
      <vt:lpstr>集体讨论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32</cp:revision>
  <dcterms:created xsi:type="dcterms:W3CDTF">2026-09-03T09:08:00Z</dcterms:created>
  <dcterms:modified xsi:type="dcterms:W3CDTF">2026-09-17T11:45:04Z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