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4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en-US" altLang="zh-CN" baseline="30000" dirty="0">
                <a:cs typeface="+mn-ea"/>
                <a:sym typeface="+mn-lt"/>
              </a:rPr>
              <a:t>st</a:t>
            </a:r>
            <a:r>
              <a:rPr lang="en-US" altLang="zh-CN" dirty="0">
                <a:cs typeface="+mn-ea"/>
                <a:sym typeface="+mn-lt"/>
              </a:rPr>
              <a:t> 2026/09/03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4931" y="472071"/>
            <a:ext cx="3422155" cy="584775"/>
          </a:xfrm>
        </p:spPr>
        <p:txBody>
          <a:bodyPr/>
          <a:lstStyle/>
          <a:p>
            <a:pPr algn="ctr"/>
            <a:r>
              <a:rPr lang="en-US" altLang="zh-CN" b="1" dirty="0"/>
              <a:t>AI</a:t>
            </a:r>
            <a:r>
              <a:rPr lang="zh-CN" altLang="en-US" b="1" dirty="0"/>
              <a:t>驱动新质生产力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59082" y="4725978"/>
            <a:ext cx="10473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提出问题 → 检索知识 → 整理数据 → 建立模型 → 筛选候选对象 → 设计实验 → 分析结果 → 更新认识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13825" y="1116358"/>
            <a:ext cx="10764346" cy="3551613"/>
            <a:chOff x="568569" y="368808"/>
            <a:chExt cx="10764346" cy="3551613"/>
          </a:xfrm>
        </p:grpSpPr>
        <p:sp>
          <p:nvSpPr>
            <p:cNvPr id="5" name="文本框 4"/>
            <p:cNvSpPr txBox="1"/>
            <p:nvPr/>
          </p:nvSpPr>
          <p:spPr>
            <a:xfrm>
              <a:off x="568569" y="368809"/>
              <a:ext cx="5735516" cy="27260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cs typeface="+mn-ea"/>
                </a:rPr>
                <a:t>AI</a:t>
              </a:r>
              <a:r>
                <a:rPr lang="zh-CN" altLang="en-US" sz="2000" b="1" dirty="0">
                  <a:cs typeface="+mn-ea"/>
                </a:rPr>
                <a:t>正在改变化学科研的工作方式</a:t>
              </a:r>
              <a:endParaRPr lang="en-US" altLang="zh-CN" sz="2000" b="1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化学空间和材料空间过于庞大，人工逐一探索苦难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文献、数据库和实验数据增长迅速，个人难以充分利用；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大量数据整理、绘图、检索和信息提取工作具有重复性；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实验设计和条件优化往往依赖经验及反复试错；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不同课题的数据比较分散，难以转化为可复用的知识；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cs typeface="+mn-ea"/>
                  <a:sym typeface="+mn-lt"/>
                </a:rPr>
                <a:t>涉及复杂的多因素关系，难以仅凭直觉判断。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890601" y="368808"/>
              <a:ext cx="4442314" cy="35516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cs typeface="+mn-ea"/>
                  <a:sym typeface="+mn-lt"/>
                </a:rPr>
                <a:t>一个完整的</a:t>
              </a:r>
              <a:r>
                <a:rPr lang="en-US" altLang="zh-CN" sz="2000" b="1" dirty="0">
                  <a:cs typeface="+mn-ea"/>
                  <a:sym typeface="+mn-lt"/>
                </a:rPr>
                <a:t>AI for Chem</a:t>
              </a:r>
              <a:r>
                <a:rPr lang="zh-CN" altLang="en-US" sz="2000" b="1" dirty="0">
                  <a:cs typeface="+mn-ea"/>
                  <a:sym typeface="+mn-lt"/>
                </a:rPr>
                <a:t>项目</a:t>
              </a:r>
              <a:endParaRPr lang="en-US" altLang="zh-CN" sz="2000" b="1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提出具有科学意义的化学问题；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收集、整理和评价数据；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选择分子、材料或反应的表示方法；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选择或建立适当的算法与模型；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评价模型性能和适用范围；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从化学角度解释模型结果；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通过计算或实验验证预测；</a:t>
              </a:r>
              <a:endParaRPr lang="en-US" altLang="zh-CN" sz="16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cs typeface="+mn-ea"/>
                  <a:sym typeface="+mn-lt"/>
                </a:rPr>
                <a:t>将方法转化为可重复使用的科研流程。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678905" y="5374079"/>
            <a:ext cx="6834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专业领域知识，实验研究能力，编程与计算能力，工程与平台能力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5580" y="472071"/>
            <a:ext cx="3320845" cy="584775"/>
          </a:xfrm>
        </p:spPr>
        <p:txBody>
          <a:bodyPr/>
          <a:lstStyle/>
          <a:p>
            <a:pPr algn="ctr"/>
            <a:r>
              <a:rPr lang="en-US" altLang="zh-CN" b="1" dirty="0"/>
              <a:t>AI for CHEM </a:t>
            </a:r>
            <a:r>
              <a:rPr lang="zh-CN" altLang="en-US" b="1" dirty="0"/>
              <a:t>地图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80209" y="1122279"/>
            <a:ext cx="4389559" cy="461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化学数据与数字化基础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分子、反应与材料的计算机表示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分子和材料性质预测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虚拟筛选与高通量筛选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分子、材料与结构的生成式设计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反应预测、逆合成与实验条件优化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cs typeface="+mn-ea"/>
                <a:sym typeface="+mn-lt"/>
              </a:rPr>
              <a:t>AI</a:t>
            </a:r>
            <a:r>
              <a:rPr lang="zh-CN" altLang="en-US" sz="1600" dirty="0">
                <a:cs typeface="+mn-ea"/>
                <a:sym typeface="+mn-lt"/>
              </a:rPr>
              <a:t>辅助生物化学与化学生物学研究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大语言模型与专业科学模型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cs typeface="+mn-ea"/>
                <a:sym typeface="+mn-lt"/>
              </a:rPr>
              <a:t>Agent</a:t>
            </a:r>
            <a:r>
              <a:rPr lang="zh-CN" altLang="en-US" sz="1600" dirty="0">
                <a:cs typeface="+mn-ea"/>
                <a:sym typeface="+mn-lt"/>
              </a:rPr>
              <a:t>与科研工作流自动化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多模态科学</a:t>
            </a:r>
            <a:r>
              <a:rPr lang="en-US" altLang="zh-CN" sz="1600" dirty="0">
                <a:cs typeface="+mn-ea"/>
                <a:sym typeface="+mn-lt"/>
              </a:rPr>
              <a:t>AI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自动化实验室与闭环科研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可靠性、可解释性与科研规范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13873"/>
          <a:stretch>
            <a:fillRect/>
          </a:stretch>
        </p:blipFill>
        <p:spPr>
          <a:xfrm>
            <a:off x="176575" y="1059949"/>
            <a:ext cx="5967396" cy="4738101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77563" y="472071"/>
            <a:ext cx="2636876" cy="584775"/>
          </a:xfrm>
        </p:spPr>
        <p:txBody>
          <a:bodyPr/>
          <a:lstStyle/>
          <a:p>
            <a:pPr algn="ctr"/>
            <a:r>
              <a:rPr lang="zh-CN" altLang="en-US" b="1" dirty="0"/>
              <a:t>协同学习模式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7023" y="1246324"/>
            <a:ext cx="6097464" cy="309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cs typeface="+mn-ea"/>
                <a:sym typeface="+mn-lt"/>
              </a:rPr>
              <a:t>AI for Chem</a:t>
            </a:r>
            <a:r>
              <a:rPr lang="zh-CN" altLang="en-US" sz="2000" b="1" dirty="0">
                <a:cs typeface="+mn-ea"/>
                <a:sym typeface="+mn-lt"/>
              </a:rPr>
              <a:t>具有几个明显特点：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领域跨度大，不同成员需要的知识不完全相同；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工具和方法更新速度快，固定课程可能很快滞后；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很多内容只有在实际操作中才能理解；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成员面对的科研问题不同，难以用一套课程完全覆盖；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cs typeface="+mn-ea"/>
                <a:sym typeface="+mn-lt"/>
              </a:rPr>
              <a:t>当前小组中未必存在掌握全部内容的“教师”；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cs typeface="+mn-ea"/>
                <a:sym typeface="+mn-lt"/>
              </a:rPr>
              <a:t>AI</a:t>
            </a:r>
            <a:r>
              <a:rPr lang="zh-CN" altLang="en-US" sz="1600" dirty="0">
                <a:cs typeface="+mn-ea"/>
                <a:sym typeface="+mn-lt"/>
              </a:rPr>
              <a:t>已经能够辅助解释概念、生成代码和提供案例，知识获取方式正在变化。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47268" y="494125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cs typeface="+mn-ea"/>
                <a:sym typeface="+mn-lt"/>
              </a:rPr>
              <a:t>自主学习＋个人输出＋集体讨论＋共同验证＋成果共建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59088" y="1547418"/>
            <a:ext cx="4609366" cy="119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“记住知识”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⬇ 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“提出问题、使用工具和验证结果”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853730" y="2936557"/>
            <a:ext cx="242008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“个人使用工具” 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⬇ </a:t>
            </a:r>
            <a:endParaRPr lang="en-US" altLang="zh-CN" sz="1600" dirty="0"/>
          </a:p>
          <a:p>
            <a:pPr algn="ctr"/>
            <a:r>
              <a:rPr lang="zh-CN" altLang="en-US" sz="1600" dirty="0"/>
              <a:t>“共同形成科研能力”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199" y="1197576"/>
            <a:ext cx="99704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自我介绍</a:t>
            </a:r>
            <a:r>
              <a:rPr lang="zh-CN" altLang="en-US" dirty="0"/>
              <a:t>：每人约</a:t>
            </a:r>
            <a:r>
              <a:rPr lang="en-US" altLang="zh-CN" dirty="0"/>
              <a:t>1</a:t>
            </a:r>
            <a:r>
              <a:rPr lang="zh-CN" altLang="en-US" dirty="0"/>
              <a:t>分钟，“研究方向，计算机和</a:t>
            </a:r>
            <a:r>
              <a:rPr lang="en-US" altLang="zh-CN" dirty="0"/>
              <a:t>AI</a:t>
            </a:r>
            <a:r>
              <a:rPr lang="zh-CN" altLang="en-US" dirty="0"/>
              <a:t>基础”等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个人主题分享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分钟，“我的化学科研中，哪些工作最耗时、最重复或最困难？哪些问题可能适合用</a:t>
            </a:r>
            <a:r>
              <a:rPr lang="en-US" altLang="zh-CN" dirty="0"/>
              <a:t>AI</a:t>
            </a:r>
            <a:r>
              <a:rPr lang="zh-CN" altLang="en-US" dirty="0"/>
              <a:t>或计算机解决？”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分钟，共同科研痛点和学习方向优先级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学习候选方向：计算机、程序与</a:t>
            </a:r>
            <a:r>
              <a:rPr lang="en-US" altLang="zh-CN" dirty="0"/>
              <a:t>Python</a:t>
            </a:r>
            <a:r>
              <a:rPr lang="zh-CN" altLang="en-US" dirty="0"/>
              <a:t>基础；人工智能、机器学习和深度学习的基本概念与原理；分子表示、化学信息学与性质预测；大语言模型和</a:t>
            </a:r>
            <a:r>
              <a:rPr lang="en-US" altLang="zh-CN" dirty="0"/>
              <a:t>Agent</a:t>
            </a:r>
            <a:r>
              <a:rPr lang="zh-CN" altLang="en-US" dirty="0"/>
              <a:t>在文献、写作和编程中的应用；合成路线、课题设计和实验优化等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总结</a:t>
            </a:r>
            <a:r>
              <a:rPr lang="zh-CN" altLang="en-US" dirty="0"/>
              <a:t>：共同需求与差异，初步学习原则与后续安排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：袁、迪、李、杨、吴（随机排序生成）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6267" y="445694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自我介绍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加载项 3" title="Breaktime">
                <a:extLst>
                  <a:ext uri="{FF2B5EF4-FFF2-40B4-BE49-F238E27FC236}">
                    <a16:creationId xmlns:a16="http://schemas.microsoft.com/office/drawing/2014/main" id="{7E829427-AA6C-4366-8FC9-BD5ECFBC1A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611469"/>
                  </p:ext>
                </p:extLst>
              </p:nvPr>
            </p:nvGraphicFramePr>
            <p:xfrm>
              <a:off x="3671887" y="1343023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加载项 3" title="Breaktime">
                <a:extLst>
                  <a:ext uri="{FF2B5EF4-FFF2-40B4-BE49-F238E27FC236}">
                    <a16:creationId xmlns:a16="http://schemas.microsoft.com/office/drawing/2014/main" id="{7E829427-AA6C-4366-8FC9-BD5ECFBC1A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43023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D9F352-5B4E-4FE9-BBAA-92DF2EB0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A8E93-70EC-4A8E-84B2-F5FED5A6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1" y="472071"/>
            <a:ext cx="2636877" cy="584775"/>
          </a:xfrm>
        </p:spPr>
        <p:txBody>
          <a:bodyPr/>
          <a:lstStyle/>
          <a:p>
            <a:pPr algn="ctr"/>
            <a:r>
              <a:rPr lang="zh-CN" altLang="en-US" b="1" dirty="0"/>
              <a:t>个人主题分享</a:t>
            </a:r>
            <a:endParaRPr lang="zh-CN" alt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75629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39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F205A-C438-4699-AE22-E59B8937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A538B2-B0D5-432B-9DB7-280EC7C1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63" y="472071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集体讨论</a:t>
            </a:r>
            <a:endParaRPr lang="zh-CN" alt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635802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67" y="472071"/>
            <a:ext cx="1002069" cy="584775"/>
          </a:xfrm>
        </p:spPr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webextensions/webextension1.xml><?xml version="1.0" encoding="utf-8"?>
<we:webextension xmlns:we="http://schemas.microsoft.com/office/webextensions/webextension/2010/11" id="{ADFE0396-AD82-4078-8126-461DF5C4AA66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time" value="60"/>
    <we:property name="breaktime.flosim.com_startMinutes" value="1"/>
    <we:property name="time" value="6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BC27A4AB-EDE1-4E46-85CD-4D5DB23267EA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3"/>
    <we:property name="breaktime.flosim.com_time" value="180"/>
    <we:property name="time" value="180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C2E242DC-ED46-4B56-9A60-4CA921DE2D81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15"/>
    <we:property name="breaktime.flosim.com_time" value="900"/>
    <we:property name="time" value="90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4</TotalTime>
  <Words>592</Words>
  <Application>Microsoft Office PowerPoint</Application>
  <PresentationFormat>宽屏</PresentationFormat>
  <Paragraphs>73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Bahnschrift SemiBold</vt:lpstr>
      <vt:lpstr>Calibri</vt:lpstr>
      <vt:lpstr>Helvetica</vt:lpstr>
      <vt:lpstr>Wingdings</vt:lpstr>
      <vt:lpstr>HKUST-宽屏-精致-方块</vt:lpstr>
      <vt:lpstr>AI for CHEM</vt:lpstr>
      <vt:lpstr>AI驱动新质生产力</vt:lpstr>
      <vt:lpstr>AI for CHEM 地图</vt:lpstr>
      <vt:lpstr>协同学习模式</vt:lpstr>
      <vt:lpstr>讨论流程</vt:lpstr>
      <vt:lpstr>自我介绍</vt:lpstr>
      <vt:lpstr>个人主题分享</vt:lpstr>
      <vt:lpstr>集体讨论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冲 李</cp:lastModifiedBy>
  <cp:revision>11</cp:revision>
  <dcterms:created xsi:type="dcterms:W3CDTF">2026-09-03T09:08:00Z</dcterms:created>
  <dcterms:modified xsi:type="dcterms:W3CDTF">2026-09-03T11:34:11Z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