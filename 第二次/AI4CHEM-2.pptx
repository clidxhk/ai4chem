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webextensions/webextension1.xml" ContentType="application/vnd.ms-office.webextension+xml"/>
  <Override PartName="/ppt/webextensions/webextension2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70" r:id="rId3"/>
    <p:sldId id="271" r:id="rId4"/>
    <p:sldId id="272" r:id="rId5"/>
    <p:sldId id="273" r:id="rId6"/>
    <p:sldId id="264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912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1" y="919576"/>
            <a:ext cx="3889855" cy="7472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9528" y="2220659"/>
            <a:ext cx="1828800" cy="2726293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Rectangle 10"/>
          <p:cNvSpPr/>
          <p:nvPr/>
        </p:nvSpPr>
        <p:spPr>
          <a:xfrm>
            <a:off x="1865376" y="2220659"/>
            <a:ext cx="10363200" cy="2726293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68791" y="2479581"/>
            <a:ext cx="9108812" cy="2023153"/>
          </a:xfrm>
        </p:spPr>
        <p:txBody>
          <a:bodyPr tIns="91440" bIns="91440" anchor="ctr" anchorCtr="0">
            <a:normAutofit/>
          </a:bodyPr>
          <a:lstStyle>
            <a:lvl1pPr>
              <a:defRPr sz="5335" b="0">
                <a:solidFill>
                  <a:srgbClr val="CC9900"/>
                </a:solidFill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9546" y="5019482"/>
            <a:ext cx="7678057" cy="787300"/>
          </a:xfrm>
        </p:spPr>
        <p:txBody>
          <a:bodyPr>
            <a:normAutofit/>
          </a:bodyPr>
          <a:lstStyle>
            <a:lvl1pPr marL="0" indent="0" algn="r">
              <a:buNone/>
              <a:defRPr sz="3465">
                <a:solidFill>
                  <a:srgbClr val="545454"/>
                </a:solidFill>
                <a:latin typeface="+mn-lt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9523" y="6146495"/>
            <a:ext cx="4366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zh-CN" altLang="en-US"/>
          </a:p>
        </p:txBody>
      </p:sp>
      <p:sp>
        <p:nvSpPr>
          <p:cNvPr id="12" name="Date Placeholder 12"/>
          <p:cNvSpPr>
            <a:spLocks noGrp="1"/>
          </p:cNvSpPr>
          <p:nvPr>
            <p:ph type="dt" sz="half" idx="2"/>
          </p:nvPr>
        </p:nvSpPr>
        <p:spPr>
          <a:xfrm>
            <a:off x="5746251" y="6146495"/>
            <a:ext cx="1693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2F4A369-E186-451F-B48A-C93F5E8F6D43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13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522437" y="6138687"/>
            <a:ext cx="857087" cy="37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 algn="ctr">
              <a:defRPr lang="en-US" sz="3200" spc="-13" dirty="0">
                <a:solidFill>
                  <a:srgbClr val="003366"/>
                </a:solidFill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095" y="5770104"/>
            <a:ext cx="2153835" cy="4137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365" y="1087896"/>
            <a:ext cx="8841963" cy="1664965"/>
          </a:xfrm>
        </p:spPr>
        <p:txBody>
          <a:bodyPr lIns="0" rIns="457200" anchor="b" anchorCtr="0"/>
          <a:lstStyle>
            <a:lvl1pPr algn="l">
              <a:defRPr sz="5335" b="0" cap="all" spc="133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8365" y="3308552"/>
            <a:ext cx="8841963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3735" baseline="0">
                <a:solidFill>
                  <a:srgbClr val="545454"/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-3" y="2838205"/>
            <a:ext cx="1243584" cy="328315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1309951" y="2838205"/>
            <a:ext cx="8900160" cy="32831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-by-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99941"/>
            <a:ext cx="5384800" cy="43199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99941"/>
            <a:ext cx="5384800" cy="43199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65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7"/>
            <a:ext cx="5386917" cy="3647587"/>
          </a:xfrm>
        </p:spPr>
        <p:txBody>
          <a:bodyPr>
            <a:normAutofit/>
          </a:bodyPr>
          <a:lstStyle>
            <a:lvl1pPr>
              <a:defRPr sz="2665"/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665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7"/>
            <a:ext cx="5389033" cy="3647587"/>
          </a:xfrm>
        </p:spPr>
        <p:txBody>
          <a:bodyPr>
            <a:normAutofit/>
          </a:bodyPr>
          <a:lstStyle>
            <a:lvl1pPr>
              <a:defRPr sz="2665"/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8580" y="4618543"/>
            <a:ext cx="9586872" cy="566739"/>
          </a:xfrm>
        </p:spPr>
        <p:txBody>
          <a:bodyPr anchor="b">
            <a:noAutofit/>
          </a:bodyPr>
          <a:lstStyle>
            <a:lvl1pPr algn="ctr">
              <a:defRPr sz="4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23342" y="547479"/>
            <a:ext cx="8381801" cy="391342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8580" y="5209471"/>
            <a:ext cx="9586872" cy="559960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1348368" y="1614157"/>
            <a:ext cx="8841963" cy="1706227"/>
          </a:xfrm>
        </p:spPr>
        <p:txBody>
          <a:bodyPr lIns="0" rIns="457200" anchor="b" anchorCtr="0"/>
          <a:lstStyle>
            <a:lvl1pPr algn="l">
              <a:defRPr sz="5335" b="0" cap="all" spc="133" baseline="0"/>
            </a:lvl1pPr>
          </a:lstStyle>
          <a:p>
            <a:r>
              <a:rPr lang="en-US" dirty="0"/>
              <a:t>Click to edit Thank you Title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1348368" y="3799944"/>
            <a:ext cx="8841963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3735" baseline="0">
                <a:solidFill>
                  <a:srgbClr val="545454"/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421719"/>
            <a:ext cx="1243584" cy="328315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1309953" y="3421719"/>
            <a:ext cx="8900160" cy="32831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095" y="5770104"/>
            <a:ext cx="2153835" cy="41376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342925" y="5948707"/>
            <a:ext cx="10850880" cy="7686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/>
          <p:cNvSpPr/>
          <p:nvPr/>
        </p:nvSpPr>
        <p:spPr>
          <a:xfrm>
            <a:off x="-10385" y="5948707"/>
            <a:ext cx="1292351" cy="7686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162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Header Style is Arial 38pt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06880"/>
            <a:ext cx="10972800" cy="4154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90011" y="6137824"/>
            <a:ext cx="4366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5">
                <a:solidFill>
                  <a:srgbClr val="EEEEEE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zh-CN" alt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2"/>
          </p:nvPr>
        </p:nvSpPr>
        <p:spPr>
          <a:xfrm>
            <a:off x="5956739" y="6137824"/>
            <a:ext cx="1693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5">
                <a:solidFill>
                  <a:srgbClr val="EEEEEE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2F4A369-E186-451F-B48A-C93F5E8F6D43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181061" y="6138688"/>
            <a:ext cx="8570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-10385" y="5948707"/>
            <a:ext cx="1292351" cy="7686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0401" y="6123054"/>
            <a:ext cx="2233913" cy="4195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609600" rtl="0" eaLnBrk="1" latinLnBrk="0" hangingPunct="1">
        <a:spcBef>
          <a:spcPct val="0"/>
        </a:spcBef>
        <a:buNone/>
        <a:defRPr sz="5065" b="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609600" rtl="0" eaLnBrk="1" latinLnBrk="0" hangingPunct="1">
        <a:spcBef>
          <a:spcPct val="20000"/>
        </a:spcBef>
        <a:buFont typeface="Arial" panose="020B0604020202020204"/>
        <a:buChar char="•"/>
        <a:defRPr sz="4265" kern="1200">
          <a:solidFill>
            <a:srgbClr val="545454"/>
          </a:solidFill>
          <a:latin typeface="+mn-lt"/>
          <a:ea typeface="+mn-ea"/>
          <a:cs typeface="+mn-cs"/>
        </a:defRPr>
      </a:lvl1pPr>
      <a:lvl2pPr marL="990600" indent="-381000" algn="l" defTabSz="609600" rtl="0" eaLnBrk="1" latinLnBrk="0" hangingPunct="1">
        <a:spcBef>
          <a:spcPct val="20000"/>
        </a:spcBef>
        <a:buFont typeface="Arial" panose="020B0604020202020204"/>
        <a:buChar char="–"/>
        <a:defRPr sz="3735" kern="1200">
          <a:solidFill>
            <a:srgbClr val="545454"/>
          </a:solidFill>
          <a:latin typeface="+mn-lt"/>
          <a:ea typeface="+mn-ea"/>
          <a:cs typeface="+mn-cs"/>
        </a:defRPr>
      </a:lvl2pPr>
      <a:lvl3pPr marL="1524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rgbClr val="545454"/>
          </a:solidFill>
          <a:latin typeface="+mn-lt"/>
          <a:ea typeface="+mn-ea"/>
          <a:cs typeface="+mn-cs"/>
        </a:defRPr>
      </a:lvl3pPr>
      <a:lvl4pPr marL="2133600" indent="-304800" algn="l" defTabSz="609600" rtl="0" eaLnBrk="1" latinLnBrk="0" hangingPunct="1">
        <a:spcBef>
          <a:spcPct val="20000"/>
        </a:spcBef>
        <a:buFont typeface="Arial" panose="020B0604020202020204"/>
        <a:buChar char="–"/>
        <a:defRPr sz="2665" kern="1200">
          <a:solidFill>
            <a:srgbClr val="545454"/>
          </a:solidFill>
          <a:latin typeface="+mn-lt"/>
          <a:ea typeface="+mn-ea"/>
          <a:cs typeface="+mn-cs"/>
        </a:defRPr>
      </a:lvl4pPr>
      <a:lvl5pPr marL="2743200" indent="-304800" algn="l" defTabSz="609600" rtl="0" eaLnBrk="1" latinLnBrk="0" hangingPunct="1">
        <a:spcBef>
          <a:spcPct val="20000"/>
        </a:spcBef>
        <a:buFont typeface="Arial" panose="020B0604020202020204"/>
        <a:buChar char="»"/>
        <a:defRPr sz="2665" kern="1200">
          <a:solidFill>
            <a:srgbClr val="545454"/>
          </a:solidFill>
          <a:latin typeface="+mn-lt"/>
          <a:ea typeface="+mn-ea"/>
          <a:cs typeface="+mn-cs"/>
        </a:defRPr>
      </a:lvl5pPr>
      <a:lvl6pPr marL="33528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AI for CHEM 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第二次讨论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2</a:t>
            </a:r>
            <a:r>
              <a:rPr lang="en-US" altLang="zh-CN" baseline="30000" dirty="0">
                <a:cs typeface="+mn-ea"/>
                <a:sym typeface="+mn-lt"/>
              </a:rPr>
              <a:t>nd</a:t>
            </a:r>
            <a:r>
              <a:rPr lang="en-US" altLang="zh-CN" dirty="0">
                <a:cs typeface="+mn-ea"/>
                <a:sym typeface="+mn-lt"/>
              </a:rPr>
              <a:t> 2026/09/11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F6DDBD-D656-41C0-9BC8-2A82A1F25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3BC1A2-107F-42D7-B997-06412B256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582" y="472071"/>
            <a:ext cx="3466848" cy="584775"/>
          </a:xfrm>
        </p:spPr>
        <p:txBody>
          <a:bodyPr/>
          <a:lstStyle/>
          <a:p>
            <a:pPr algn="ctr"/>
            <a:r>
              <a:rPr lang="zh-CN" altLang="en-US" b="1" dirty="0"/>
              <a:t>计算机的发展历史</a:t>
            </a:r>
          </a:p>
        </p:txBody>
      </p:sp>
      <p:pic>
        <p:nvPicPr>
          <p:cNvPr id="1026" name="Picture 2" descr="computer">
            <a:extLst>
              <a:ext uri="{FF2B5EF4-FFF2-40B4-BE49-F238E27FC236}">
                <a16:creationId xmlns:a16="http://schemas.microsoft.com/office/drawing/2014/main" id="{C8EB7CDA-A88D-405B-B3A0-B6B4F789D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413"/>
            <a:ext cx="12192000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026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BD6D9A-BED5-4287-8B95-84D890B5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806062A-7591-452B-9D05-672D5E9BE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465" y="472071"/>
            <a:ext cx="5089085" cy="584775"/>
          </a:xfrm>
        </p:spPr>
        <p:txBody>
          <a:bodyPr/>
          <a:lstStyle/>
          <a:p>
            <a:pPr algn="ctr"/>
            <a:r>
              <a:rPr lang="zh-CN" altLang="en-US" b="1" dirty="0"/>
              <a:t>图灵机和现代计算机的组成</a:t>
            </a:r>
          </a:p>
        </p:txBody>
      </p:sp>
      <p:pic>
        <p:nvPicPr>
          <p:cNvPr id="2050" name="Picture 2" descr="计算机组成原理——计算机基本组成-云社区-华为云">
            <a:extLst>
              <a:ext uri="{FF2B5EF4-FFF2-40B4-BE49-F238E27FC236}">
                <a16:creationId xmlns:a16="http://schemas.microsoft.com/office/drawing/2014/main" id="{40F6E632-7753-4239-9EA5-1159D9FC5A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57"/>
          <a:stretch/>
        </p:blipFill>
        <p:spPr bwMode="auto">
          <a:xfrm>
            <a:off x="5358386" y="1190196"/>
            <a:ext cx="6564312" cy="411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C0C6C91-FA81-4A08-956D-7995DB0004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468" r="7430" b="4167"/>
          <a:stretch/>
        </p:blipFill>
        <p:spPr>
          <a:xfrm>
            <a:off x="355027" y="1600200"/>
            <a:ext cx="51842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29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A52B61-0135-4D97-8C6F-ACE3AC1FD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350B72F-5F02-41FA-8BE9-A549DA6DA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1917" y="472071"/>
            <a:ext cx="2228174" cy="584775"/>
          </a:xfrm>
        </p:spPr>
        <p:txBody>
          <a:bodyPr/>
          <a:lstStyle/>
          <a:p>
            <a:pPr algn="ctr"/>
            <a:r>
              <a:rPr lang="zh-CN" altLang="en-US" b="1" dirty="0"/>
              <a:t>计算机语言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13A735-BE42-4F9B-9DBE-4B3A5D67A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99" y="1190197"/>
            <a:ext cx="7328476" cy="42539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7DFF6F6-3B37-4598-8D8E-2B70D70EE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446" y="1603512"/>
            <a:ext cx="3876055" cy="384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34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8F3C5A6-4BAD-4F14-A60F-C215DE838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946056B-A8F0-419E-B0DE-FCD874FE5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569" y="472071"/>
            <a:ext cx="2636876" cy="584775"/>
          </a:xfrm>
        </p:spPr>
        <p:txBody>
          <a:bodyPr/>
          <a:lstStyle/>
          <a:p>
            <a:pPr algn="ctr"/>
            <a:r>
              <a:rPr lang="zh-CN" altLang="en-US" b="1" dirty="0"/>
              <a:t>计算机的本质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9EE258-162B-4D1F-984D-394AF8C95EFD}"/>
              </a:ext>
            </a:extLst>
          </p:cNvPr>
          <p:cNvSpPr txBox="1"/>
          <p:nvPr/>
        </p:nvSpPr>
        <p:spPr>
          <a:xfrm>
            <a:off x="3562350" y="2120384"/>
            <a:ext cx="50577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/>
              <a:t>数学本质论 </a:t>
            </a:r>
            <a:r>
              <a:rPr lang="en-US" altLang="zh-CN" sz="3200" dirty="0"/>
              <a:t>vs. </a:t>
            </a:r>
            <a:r>
              <a:rPr lang="zh-CN" altLang="en-US" sz="3200" dirty="0"/>
              <a:t>物理本质论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D1EE554-245A-48EC-B072-870415A63526}"/>
              </a:ext>
            </a:extLst>
          </p:cNvPr>
          <p:cNvSpPr txBox="1"/>
          <p:nvPr/>
        </p:nvSpPr>
        <p:spPr>
          <a:xfrm>
            <a:off x="3562350" y="2814419"/>
            <a:ext cx="51054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/>
              <a:t>人造工具论 </a:t>
            </a:r>
            <a:r>
              <a:rPr lang="en-US" altLang="zh-CN" sz="3200" dirty="0"/>
              <a:t>vs. </a:t>
            </a:r>
            <a:r>
              <a:rPr lang="zh-CN" altLang="en-US" sz="3200" dirty="0"/>
              <a:t>宇宙本质论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66C185-1460-4125-81F2-8F2DBDD650D5}"/>
              </a:ext>
            </a:extLst>
          </p:cNvPr>
          <p:cNvSpPr txBox="1"/>
          <p:nvPr/>
        </p:nvSpPr>
        <p:spPr>
          <a:xfrm>
            <a:off x="3956446" y="3508454"/>
            <a:ext cx="42695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/>
              <a:t>统计计算 </a:t>
            </a:r>
            <a:r>
              <a:rPr lang="en-US" altLang="zh-CN" sz="3200" dirty="0"/>
              <a:t>vs. </a:t>
            </a:r>
            <a:r>
              <a:rPr lang="zh-CN" altLang="en-US" sz="3200" dirty="0"/>
              <a:t>具身智能</a:t>
            </a:r>
          </a:p>
        </p:txBody>
      </p:sp>
    </p:spTree>
    <p:extLst>
      <p:ext uri="{BB962C8B-B14F-4D97-AF65-F5344CB8AC3E}">
        <p14:creationId xmlns:p14="http://schemas.microsoft.com/office/powerpoint/2010/main" val="2089119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7199" y="1197576"/>
            <a:ext cx="99704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# </a:t>
            </a:r>
            <a:r>
              <a:rPr lang="zh-CN" altLang="en-US" b="1" dirty="0"/>
              <a:t>开场</a:t>
            </a:r>
            <a:r>
              <a:rPr lang="zh-CN" altLang="en-US" dirty="0"/>
              <a:t>：约</a:t>
            </a:r>
            <a:r>
              <a:rPr lang="en-US" altLang="zh-CN" dirty="0"/>
              <a:t>2-3</a:t>
            </a:r>
            <a:r>
              <a:rPr lang="zh-CN" altLang="en-US" dirty="0"/>
              <a:t>分钟</a:t>
            </a:r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问题分享</a:t>
            </a:r>
            <a:r>
              <a:rPr lang="zh-CN" altLang="en-US" dirty="0"/>
              <a:t>：每人约</a:t>
            </a:r>
            <a:r>
              <a:rPr lang="en-US" altLang="zh-CN" dirty="0"/>
              <a:t>3</a:t>
            </a:r>
            <a:r>
              <a:rPr lang="zh-CN" altLang="en-US" dirty="0"/>
              <a:t>分钟，挑选一个问题回答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集体讨论</a:t>
            </a:r>
            <a:r>
              <a:rPr lang="zh-CN" altLang="en-US" dirty="0"/>
              <a:t>：约</a:t>
            </a:r>
            <a:r>
              <a:rPr lang="en-US" altLang="zh-CN" dirty="0"/>
              <a:t>15</a:t>
            </a:r>
            <a:r>
              <a:rPr lang="zh-CN" altLang="en-US" dirty="0"/>
              <a:t>分钟，学习中的问题等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发言顺序</a:t>
            </a:r>
            <a:r>
              <a:rPr lang="zh-CN" altLang="en-US" dirty="0"/>
              <a:t>：迪、杨、吴、李、袁 （随机生成）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186267" y="472071"/>
            <a:ext cx="1819472" cy="584775"/>
          </a:xfrm>
        </p:spPr>
        <p:txBody>
          <a:bodyPr/>
          <a:lstStyle/>
          <a:p>
            <a:pPr algn="ctr"/>
            <a:r>
              <a:rPr lang="zh-CN" altLang="en-US" b="1" dirty="0"/>
              <a:t>讨论流程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D9F352-5B4E-4FE9-BBAA-92DF2EB0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A8E93-70EC-4A8E-84B2-F5FED5A6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561" y="472071"/>
            <a:ext cx="2636877" cy="584775"/>
          </a:xfrm>
        </p:spPr>
        <p:txBody>
          <a:bodyPr/>
          <a:lstStyle/>
          <a:p>
            <a:pPr algn="ctr"/>
            <a:r>
              <a:rPr lang="zh-CN" altLang="en-US" b="1" dirty="0"/>
              <a:t>个人主题分享</a:t>
            </a:r>
            <a:endParaRPr lang="zh-CN" altLang="en-US" dirty="0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6" name="加载项 5" title="Breaktime">
                <a:extLst>
                  <a:ext uri="{FF2B5EF4-FFF2-40B4-BE49-F238E27FC236}">
                    <a16:creationId xmlns:a16="http://schemas.microsoft.com/office/drawing/2014/main" id="{D34D2E9A-14F0-4C63-B72D-6FB44FAEDB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9375629"/>
                  </p:ext>
                </p:extLst>
              </p:nvPr>
            </p:nvGraphicFramePr>
            <p:xfrm>
              <a:off x="3671887" y="1314448"/>
              <a:ext cx="4848225" cy="315277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加载项 5" title="Breaktime">
                <a:extLst>
                  <a:ext uri="{FF2B5EF4-FFF2-40B4-BE49-F238E27FC236}">
                    <a16:creationId xmlns:a16="http://schemas.microsoft.com/office/drawing/2014/main" id="{D34D2E9A-14F0-4C63-B72D-6FB44FAEDB9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1887" y="1314448"/>
                <a:ext cx="4848225" cy="315277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0398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BF205A-C438-4699-AE22-E59B8937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2A538B2-B0D5-432B-9DB7-280EC7C1A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263" y="472071"/>
            <a:ext cx="1819473" cy="584775"/>
          </a:xfrm>
        </p:spPr>
        <p:txBody>
          <a:bodyPr/>
          <a:lstStyle/>
          <a:p>
            <a:pPr algn="ctr"/>
            <a:r>
              <a:rPr lang="zh-CN" altLang="en-US" b="1" dirty="0"/>
              <a:t>集体讨论</a:t>
            </a:r>
            <a:endParaRPr lang="zh-CN" altLang="en-US" dirty="0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6" name="加载项 5" title="Breaktime">
                <a:extLst>
                  <a:ext uri="{FF2B5EF4-FFF2-40B4-BE49-F238E27FC236}">
                    <a16:creationId xmlns:a16="http://schemas.microsoft.com/office/drawing/2014/main" id="{02972156-4E11-469A-B65B-C7DF731C33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1635802"/>
                  </p:ext>
                </p:extLst>
              </p:nvPr>
            </p:nvGraphicFramePr>
            <p:xfrm>
              <a:off x="3671887" y="1314448"/>
              <a:ext cx="4848225" cy="315277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加载项 5" title="Breaktime">
                <a:extLst>
                  <a:ext uri="{FF2B5EF4-FFF2-40B4-BE49-F238E27FC236}">
                    <a16:creationId xmlns:a16="http://schemas.microsoft.com/office/drawing/2014/main" id="{02972156-4E11-469A-B65B-C7DF731C335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1887" y="1314448"/>
                <a:ext cx="4848225" cy="315277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230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5E421B7-B85F-4AFD-B6D8-28B5E52BA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7743683-F340-4BB6-931D-E05CE2EB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4967" y="472071"/>
            <a:ext cx="1002069" cy="584775"/>
          </a:xfrm>
        </p:spPr>
        <p:txBody>
          <a:bodyPr/>
          <a:lstStyle/>
          <a:p>
            <a:pPr algn="ctr"/>
            <a:r>
              <a:rPr lang="zh-CN" altLang="en-US" b="1" dirty="0"/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3610566703"/>
      </p:ext>
    </p:extLst>
  </p:cSld>
  <p:clrMapOvr>
    <a:masterClrMapping/>
  </p:clrMapOvr>
</p:sld>
</file>

<file path=ppt/theme/theme1.xml><?xml version="1.0" encoding="utf-8"?>
<a:theme xmlns:a="http://schemas.openxmlformats.org/drawingml/2006/main" name="HKUST-宽屏-精致-方块">
  <a:themeElements>
    <a:clrScheme name="Berkeley-Haas Color Palette">
      <a:dk1>
        <a:srgbClr val="003057"/>
      </a:dk1>
      <a:lt1>
        <a:sysClr val="window" lastClr="FFFFFF"/>
      </a:lt1>
      <a:dk2>
        <a:srgbClr val="75777B"/>
      </a:dk2>
      <a:lt2>
        <a:srgbClr val="C3BDAD"/>
      </a:lt2>
      <a:accent1>
        <a:srgbClr val="0072CE"/>
      </a:accent1>
      <a:accent2>
        <a:srgbClr val="D8623F"/>
      </a:accent2>
      <a:accent3>
        <a:srgbClr val="6AA603"/>
      </a:accent3>
      <a:accent4>
        <a:srgbClr val="EFB82B"/>
      </a:accent4>
      <a:accent5>
        <a:srgbClr val="EA4D6C"/>
      </a:accent5>
      <a:accent6>
        <a:srgbClr val="9BBFAD"/>
      </a:accent6>
      <a:hlink>
        <a:srgbClr val="B2B3B2"/>
      </a:hlink>
      <a:folHlink>
        <a:srgbClr val="777877"/>
      </a:folHlink>
    </a:clrScheme>
    <a:fontScheme name="hd2x35d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webextensions/webextension1.xml><?xml version="1.0" encoding="utf-8"?>
<we:webextension xmlns:we="http://schemas.microsoft.com/office/webextensions/webextension/2010/11" id="{BC27A4AB-EDE1-4E46-85CD-4D5DB23267EA}">
  <we:reference id="wa200001661" version="3.1.2.0" store="zh-CN" storeType="OMEX"/>
  <we:alternateReferences>
    <we:reference id="WA200001661" version="3.1.2.0" store="WA200001661" storeType="OMEX"/>
  </we:alternateReferences>
  <we:properties>
    <we:property name="breaktime.flosim.com_fontColour" value="&quot;#003366&quot;"/>
    <we:property name="breaktime.flosim.com_startMinutes" value="3"/>
    <we:property name="breaktime.flosim.com_time" value="180"/>
    <we:property name="time" value="180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C2E242DC-ED46-4B56-9A60-4CA921DE2D81}">
  <we:reference id="wa200001661" version="3.1.2.0" store="zh-CN" storeType="OMEX"/>
  <we:alternateReferences>
    <we:reference id="WA200001661" version="3.1.2.0" store="WA200001661" storeType="OMEX"/>
  </we:alternateReferences>
  <we:properties>
    <we:property name="breaktime.flosim.com_fontColour" value="&quot;#003366&quot;"/>
    <we:property name="breaktime.flosim.com_startMinutes" value="15"/>
    <we:property name="breaktime.flosim.com_time" value="900"/>
    <we:property name="time" value="900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HKUST-宽屏-精致-方块</Template>
  <TotalTime>60</TotalTime>
  <Words>113</Words>
  <Application>Microsoft Office PowerPoint</Application>
  <PresentationFormat>宽屏</PresentationFormat>
  <Paragraphs>29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Arial</vt:lpstr>
      <vt:lpstr>Bahnschrift SemiBold</vt:lpstr>
      <vt:lpstr>Calibri</vt:lpstr>
      <vt:lpstr>Helvetica</vt:lpstr>
      <vt:lpstr>HKUST-宽屏-精致-方块</vt:lpstr>
      <vt:lpstr>AI for CHEM 第二次讨论</vt:lpstr>
      <vt:lpstr>计算机的发展历史</vt:lpstr>
      <vt:lpstr>图灵机和现代计算机的组成</vt:lpstr>
      <vt:lpstr>计算机语言</vt:lpstr>
      <vt:lpstr>计算机的本质</vt:lpstr>
      <vt:lpstr>讨论流程</vt:lpstr>
      <vt:lpstr>个人主题分享</vt:lpstr>
      <vt:lpstr>集体讨论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冲 李</dc:creator>
  <cp:lastModifiedBy>LI Chong</cp:lastModifiedBy>
  <cp:revision>26</cp:revision>
  <dcterms:created xsi:type="dcterms:W3CDTF">2026-09-03T09:08:00Z</dcterms:created>
  <dcterms:modified xsi:type="dcterms:W3CDTF">2026-09-11T11:13:30Z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2052-11.8.2.8361</vt:lpwstr>
  </property>
</Properties>
</file>